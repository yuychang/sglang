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9728" cy="525780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60120"/>
            <a:ext cx="9875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4F8FC"/>
                </a:solidFill>
                <a:latin typeface="Aptos"/>
              </a:rPr>
              <a:t>Calculating the Throughput Ceiling
and Its Interactivity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0"/>
            <a:ext cx="9326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36D3E5"/>
                </a:solidFill>
                <a:latin typeface="Aptos"/>
              </a:rPr>
              <a:t>An illustrative capacity model for SGLang serving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6B8CC"/>
                </a:solidFill>
                <a:latin typeface="Aptos"/>
              </a:rPr>
              <a:t>Kimi K2.5  ·  ISL 8K / OSL 1K  ·  TP=4
B200 + FlashInfer TRT-LLM  vs.  MI355X + AITER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800600"/>
            <a:ext cx="9875520" cy="822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983480"/>
            <a:ext cx="9326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4F8FC"/>
                </a:solidFill>
                <a:latin typeface="Aptos"/>
              </a:rPr>
              <a:t>Capacity is a frontier: maximize throughput subject to TTFT and ITL SLOs.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520440" cy="192024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1920240"/>
          </a:xfrm>
          <a:prstGeom prst="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B82FF"/>
                </a:solidFill>
                <a:latin typeface="Aptos"/>
              </a:rPr>
              <a:t>MEMORY 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3108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Resident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31089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KV capacity determines how many long-context requests can remain 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192024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92024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8988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D3E5"/>
                </a:solidFill>
                <a:latin typeface="Aptos"/>
              </a:rPr>
              <a:t>COMPUTE 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09928"/>
            <a:ext cx="3108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Kernel saturation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21992"/>
            <a:ext cx="31089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Backend kernels determine when additional batching stops improving tokens/s.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520440" cy="192024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1920240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8988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4D"/>
                </a:solidFill>
                <a:latin typeface="Aptos"/>
              </a:rPr>
              <a:t>SLO 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09928"/>
            <a:ext cx="3108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Interactivity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21992"/>
            <a:ext cx="31089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Larger batches increase decode-step time and therefore ITL.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10927080" cy="164592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85032"/>
            <a:ext cx="10287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6D3E5"/>
                </a:solidFill>
                <a:latin typeface="Aptos"/>
              </a:rPr>
              <a:t>The key 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69080"/>
            <a:ext cx="10287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4F8FC"/>
                </a:solidFill>
                <a:latin typeface="Aptos"/>
              </a:rPr>
              <a:t>Output throughput ≈ Resident decode batch ÷ Decode-step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10287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A6B8CC"/>
                </a:solidFill>
                <a:latin typeface="Aptos"/>
              </a:rPr>
              <a:t>Throughput may rise while ITL worsens—both observations can be true.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Workload anatomy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804672"/>
            <a:ext cx="9875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6B8CC"/>
                </a:solidFill>
                <a:latin typeface="Aptos"/>
              </a:rPr>
              <a:t>Why “total throughput” can mislead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Aptos"/>
              </a:rPr>
              <a:t>9,216 tokens /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6B8CC"/>
                </a:solidFill>
                <a:latin typeface="Aptos"/>
              </a:rPr>
              <a:t>ISL  8,192
OSL  1,024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417320"/>
            <a:ext cx="7315200" cy="658368"/>
          </a:xfrm>
          <a:prstGeom prst="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1417320"/>
            <a:ext cx="6502400" cy="658368"/>
          </a:xfrm>
          <a:prstGeom prst="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4320" y="1417320"/>
            <a:ext cx="812800" cy="658368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508760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4F8FC"/>
                </a:solidFill>
                <a:latin typeface="Aptos"/>
              </a:rPr>
              <a:t>Input / prefill  89%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8" y="1508760"/>
            <a:ext cx="685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1220"/>
                </a:solidFill>
                <a:latin typeface="Aptos"/>
              </a:rPr>
              <a:t>11%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5166360" cy="1965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73152" cy="1965960"/>
          </a:xfrm>
          <a:prstGeom prst="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B82FF"/>
                </a:solidFill>
                <a:latin typeface="Aptos"/>
              </a:rPr>
              <a:t>TOTAL TOKEN 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(Input + output) /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67912"/>
            <a:ext cx="47548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Mostly measures prefill scaling for this 8:1 workload mix.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880360"/>
            <a:ext cx="5074920" cy="1965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880360"/>
            <a:ext cx="73152" cy="1965960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3580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84D"/>
                </a:solidFill>
                <a:latin typeface="Aptos"/>
              </a:rPr>
              <a:t>GENERATION THROUGHPUT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55848"/>
            <a:ext cx="4663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Output tokens /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2"/>
            <a:ext cx="46634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The better metric for decode capacity and ITL trade-offs.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D3E5"/>
                </a:solidFill>
                <a:latin typeface="Aptos"/>
              </a:rPr>
              <a:t>Report input TPS, output TPS, total TPS, TTFT, and ITL separately.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Step 1 — Bound the resident batch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5207" y="1143000"/>
            <a:ext cx="10241280" cy="73152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207" y="1143000"/>
            <a:ext cx="91440" cy="731520"/>
          </a:xfrm>
          <a:prstGeom prst="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27" y="1216152"/>
            <a:ext cx="491581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Offered concurrency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1216152"/>
            <a:ext cx="47109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A6B8CC"/>
                </a:solidFill>
                <a:latin typeface="Aptos"/>
              </a:rPr>
              <a:t>Client-side request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9607" y="2103120"/>
            <a:ext cx="8412480" cy="73152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89607" y="2103120"/>
            <a:ext cx="91440" cy="7315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3927" y="2176272"/>
            <a:ext cx="403799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Request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176272"/>
            <a:ext cx="38697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A6B8CC"/>
                </a:solidFill>
                <a:latin typeface="Aptos"/>
              </a:rPr>
              <a:t>Auto max_running_requests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07" y="3063240"/>
            <a:ext cx="6583680" cy="73152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4007" y="3063240"/>
            <a:ext cx="91440" cy="731520"/>
          </a:xfrm>
          <a:prstGeom prst="rect">
            <a:avLst/>
          </a:prstGeom>
          <a:solidFill>
            <a:srgbClr val="4DDA99"/>
          </a:solidFill>
          <a:ln>
            <a:solidFill>
              <a:srgbClr val="4DD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8327" y="3136392"/>
            <a:ext cx="316016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KV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3136392"/>
            <a:ext cx="30284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A6B8CC"/>
                </a:solidFill>
                <a:latin typeface="Aptos"/>
              </a:rPr>
              <a:t>max_total_num_tokens ÷ live tokens/request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8407" y="4023360"/>
            <a:ext cx="4754880" cy="73152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18407" y="4023360"/>
            <a:ext cx="91440" cy="731520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2727" y="4096512"/>
            <a:ext cx="228234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Resident decode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4096512"/>
            <a:ext cx="218724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A6B8CC"/>
                </a:solidFill>
                <a:latin typeface="Aptos"/>
              </a:rPr>
              <a:t>Requests actually advancing on GPU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5193792"/>
            <a:ext cx="9720072" cy="658368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5312664"/>
            <a:ext cx="9372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4F8FC"/>
                </a:solidFill>
                <a:latin typeface="Aptos"/>
              </a:rPr>
              <a:t>Bresident ≤ min(BKV, request slots)  ·  Offered concurrency may be much larger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Step 2 — Calculate KV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804672"/>
            <a:ext cx="9875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6B8CC"/>
                </a:solidFill>
                <a:latin typeface="Aptos"/>
              </a:rPr>
              <a:t>Kimi K2.5 MLA with FP8 KV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257800" cy="434340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09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6D3E5"/>
                </a:solidFill>
                <a:latin typeface="Aptos"/>
              </a:rPr>
              <a:t>Per-token KV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09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4F8FC"/>
                </a:solidFill>
                <a:latin typeface="Aptos"/>
              </a:rPr>
              <a:t>61 layers × (512 latent + 64 RoPE)
× 1 byte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246120"/>
            <a:ext cx="4343400" cy="82296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429000"/>
            <a:ext cx="39776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4DDA99"/>
                </a:solidFill>
                <a:latin typeface="Aptos"/>
              </a:rPr>
              <a:t>= 35,136 bytes / token /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34840"/>
            <a:ext cx="4709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6B8CC"/>
                </a:solidFill>
                <a:latin typeface="Aptos"/>
              </a:rPr>
              <a:t>TP=4 does not divide the compressed MLA KV token cost on each rank.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257800" cy="434340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4709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B84D"/>
                </a:solidFill>
                <a:latin typeface="Aptos"/>
              </a:rPr>
              <a:t>Per-request KV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709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4F8FC"/>
                </a:solidFill>
                <a:latin typeface="Aptos"/>
              </a:rPr>
              <a:t>35,136 bytes × (8,192 + 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218688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B82FF"/>
                </a:solidFill>
                <a:latin typeface="Aptos"/>
              </a:rPr>
              <a:t>After prefill: 274.5 MiB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703320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B84D"/>
                </a:solidFill>
                <a:latin typeface="Aptos"/>
              </a:rPr>
              <a:t>At 1K output: 308.8 MiB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315968"/>
            <a:ext cx="4526280" cy="68580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462272"/>
            <a:ext cx="4160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4F8FC"/>
                </a:solidFill>
                <a:latin typeface="Aptos"/>
              </a:rPr>
              <a:t>BKV,end = floor(TKV / 9,216)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Step 3 — Compare raw memory headroom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804672"/>
            <a:ext cx="9875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6B8CC"/>
                </a:solidFill>
                <a:latin typeface="Aptos"/>
              </a:rPr>
              <a:t>Illustrative upper bounds before runtime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B82FF"/>
                </a:solidFill>
                <a:latin typeface="Aptos"/>
              </a:rPr>
              <a:t>B200 · NVIDIA Kimi-K2.5-NVFP4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97280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4DDA99"/>
                </a:solidFill>
                <a:latin typeface="Aptos"/>
              </a:rPr>
              <a:t>MI355X · AMD Kimi-K2.5-MXFP4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903220"/>
            <a:ext cx="2011680" cy="2171700"/>
          </a:xfrm>
          <a:prstGeom prst="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3415379"/>
            <a:ext cx="2011680" cy="1659540"/>
          </a:xfrm>
          <a:prstGeom prst="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38928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180 GiB HBM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06819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137.6 GiB
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94660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B82FF"/>
                </a:solidFill>
                <a:latin typeface="Aptos"/>
              </a:rPr>
              <a:t>Raw headroom
42.4 GiB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3223260"/>
            <a:ext cx="182880" cy="0"/>
          </a:xfrm>
          <a:prstGeom prst="line">
            <a:avLst/>
          </a:prstGeom>
          <a:ln w="25400">
            <a:solidFill>
              <a:srgbClr val="4B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629400" y="1600200"/>
            <a:ext cx="2011680" cy="3474720"/>
          </a:xfrm>
          <a:prstGeom prst="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3504660"/>
            <a:ext cx="2011680" cy="1570259"/>
          </a:xfrm>
          <a:prstGeom prst="rect">
            <a:avLst/>
          </a:prstGeom>
          <a:solidFill>
            <a:srgbClr val="4DDA99"/>
          </a:solidFill>
          <a:ln>
            <a:solidFill>
              <a:srgbClr val="4DD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138928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288 GiB HBM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96100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130.2 GiB
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691640"/>
            <a:ext cx="2240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DDA99"/>
                </a:solidFill>
                <a:latin typeface="Aptos"/>
              </a:rPr>
              <a:t>Raw headroom
157.8 GiB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1920240"/>
            <a:ext cx="182880" cy="0"/>
          </a:xfrm>
          <a:prstGeom prst="line">
            <a:avLst/>
          </a:prstGeom>
          <a:ln w="25400">
            <a:solidFill>
              <a:srgbClr val="4DD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66160" y="2148840"/>
            <a:ext cx="2606040" cy="141732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7328" y="23134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6D3E5"/>
                </a:solidFill>
                <a:latin typeface="Aptos"/>
              </a:rPr>
              <a:t>Raw 9K KV 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26974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4B82FF"/>
                </a:solidFill>
                <a:latin typeface="Aptos"/>
              </a:rPr>
              <a:t>B200  ≈ 141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312724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4DDA99"/>
                </a:solidFill>
                <a:latin typeface="Aptos"/>
              </a:rPr>
              <a:t>MI355X  ≈ 523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744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B8CC"/>
                </a:solidFill>
                <a:latin typeface="Aptos"/>
              </a:rPr>
              <a:t>Use /server_info max_total_num_tokens for the real bound; allocator, graph, VLM, and backend reserves reduce these raw values.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Step 4 — Translate batch size into throughput and ITL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703320" cy="452628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6D3E5"/>
                </a:solidFill>
                <a:latin typeface="Aptos"/>
              </a:rPr>
              <a:t>Output TPS(B) ≈ B / t(B)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B84D"/>
                </a:solidFill>
                <a:latin typeface="Aptos"/>
              </a:rPr>
              <a:t>ITL(B) ≈ t(B)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31546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4F8FC"/>
                </a:solidFill>
                <a:latin typeface="Aptos"/>
              </a:rPr>
              <a:t>If batch grows faster than step time:
• throughput increases
• ITL also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143000"/>
            <a:ext cx="6812280" cy="452628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6172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4F8FC"/>
                </a:solidFill>
                <a:latin typeface="Aptos"/>
              </a:rPr>
              <a:t>Illustrative normalized example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4892040"/>
            <a:ext cx="5394960" cy="0"/>
          </a:xfrm>
          <a:prstGeom prst="line">
            <a:avLst/>
          </a:prstGeom>
          <a:ln w="12700">
            <a:solidFill>
              <a:srgbClr val="A6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1965960"/>
            <a:ext cx="0" cy="2926080"/>
          </a:xfrm>
          <a:prstGeom prst="line">
            <a:avLst/>
          </a:prstGeom>
          <a:ln w="12700">
            <a:solidFill>
              <a:srgbClr val="A6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779008" y="4087368"/>
            <a:ext cx="146304" cy="146304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498348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6B8CC"/>
                </a:solidFill>
                <a:latin typeface="Aptos"/>
              </a:rPr>
              <a:t>128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852160" y="3456432"/>
            <a:ext cx="1463040" cy="704088"/>
          </a:xfrm>
          <a:prstGeom prst="line">
            <a:avLst/>
          </a:prstGeom>
          <a:ln w="381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42048" y="3383279"/>
            <a:ext cx="146304" cy="146304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98348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6B8CC"/>
                </a:solidFill>
                <a:latin typeface="Aptos"/>
              </a:rPr>
              <a:t>256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315200" y="2880360"/>
            <a:ext cx="1508760" cy="576072"/>
          </a:xfrm>
          <a:prstGeom prst="line">
            <a:avLst/>
          </a:prstGeom>
          <a:ln w="381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750808" y="2807208"/>
            <a:ext cx="146304" cy="146304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98348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6B8CC"/>
                </a:solidFill>
                <a:latin typeface="Aptos"/>
              </a:rPr>
              <a:t>512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823960" y="2514600"/>
            <a:ext cx="1554480" cy="365760"/>
          </a:xfrm>
          <a:prstGeom prst="line">
            <a:avLst/>
          </a:prstGeom>
          <a:ln w="381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305288" y="2441448"/>
            <a:ext cx="146304" cy="146304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498348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6B8CC"/>
                </a:solidFill>
                <a:latin typeface="Aptos"/>
              </a:rPr>
              <a:t>1024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321808"/>
            <a:ext cx="6812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B8CC"/>
                </a:solidFill>
                <a:latin typeface="Aptos"/>
              </a:rPr>
              <a:t>Offered concurrency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1828800"/>
            <a:ext cx="45720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6D3E5"/>
                </a:solidFill>
                <a:latin typeface="Aptos"/>
              </a:rPr>
              <a:t>TPS
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0312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B84D"/>
                </a:solidFill>
                <a:latin typeface="Aptos"/>
              </a:rPr>
              <a:t>More throughput
but longer decode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Why B200 shows a ceiling while MI355X keeps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520440" cy="1965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3152" cy="1965960"/>
          </a:xfrm>
          <a:prstGeom prst="rect">
            <a:avLst/>
          </a:prstGeom>
          <a:solidFill>
            <a:srgbClr val="4DDA99"/>
          </a:solidFill>
          <a:ln>
            <a:solidFill>
              <a:srgbClr val="4DD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DDA99"/>
                </a:solidFill>
                <a:latin typeface="Aptos"/>
              </a:rPr>
              <a:t>1 ·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3108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~3.7× raw KV headroom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310896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MI355X can sustain a much larger resident long-context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43000"/>
            <a:ext cx="3520440" cy="1965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43000"/>
            <a:ext cx="73152" cy="196596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9844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D3E5"/>
                </a:solidFill>
                <a:latin typeface="Aptos"/>
              </a:rPr>
              <a:t>2 · KERNELS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18488"/>
            <a:ext cx="3108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Different saturation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310896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FlashInfer TRT-LLM reaches useful occupancy earlier; AITER persistent MLA can benefit from larger batches.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520440" cy="1965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73152" cy="1965960"/>
          </a:xfrm>
          <a:prstGeom prst="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9844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B82FF"/>
                </a:solidFill>
                <a:latin typeface="Aptos"/>
              </a:rPr>
              <a:t>3 · METRIC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18488"/>
            <a:ext cx="3108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C"/>
                </a:solidFill>
                <a:latin typeface="Aptos"/>
              </a:rPr>
              <a:t>Prefill dominates total 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30552"/>
            <a:ext cx="310896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At 8K/1K, improved AITER prefill batching can raise total TPS while ITL deteriorates.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56432"/>
            <a:ext cx="10927080" cy="178308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B82FF"/>
                </a:solidFill>
                <a:latin typeface="Aptos"/>
              </a:rPr>
              <a:t>B200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61188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Capacity / compute knee near ~128 → total TPS flattens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DDA99"/>
                </a:solidFill>
                <a:latin typeface="Aptos"/>
              </a:rPr>
              <a:t>MI355X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97680"/>
            <a:ext cx="8138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Resident batch scales into the hundreds; at 1024 offered concurrency, queueing and prefill batching may still raise total TPS.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Step 5 — Bound end-to-end throughput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1965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8988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6D3E5"/>
                </a:solidFill>
                <a:latin typeface="Aptos"/>
              </a:rPr>
              <a:t>No prefill/decode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4F8FC"/>
                </a:solidFill>
                <a:latin typeface="Aptos"/>
              </a:rPr>
              <a:t>QPS ≤ 1 / (ISL / P + OSL /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6B8CC"/>
                </a:solidFill>
                <a:latin typeface="Aptos"/>
              </a:rPr>
              <a:t>Total TPS ≤ 9,216 × QPS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196596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8988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DDA99"/>
                </a:solidFill>
                <a:latin typeface="Aptos"/>
              </a:rPr>
              <a:t>Ideal independent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4F8FC"/>
                </a:solidFill>
                <a:latin typeface="Aptos"/>
              </a:rPr>
              <a:t>QPS ≤ min(P / ISL, D / OSL)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3288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6B8CC"/>
                </a:solidFill>
                <a:latin typeface="Aptos"/>
              </a:rPr>
              <a:t>Real mixed scheduling lies between the bounds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2331720" cy="731520"/>
          </a:xfrm>
          <a:prstGeom prst="round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59352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4F8FC"/>
                </a:solidFill>
                <a:latin typeface="Aptos"/>
              </a:rPr>
              <a:t>Queue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4206240"/>
            <a:ext cx="640080" cy="0"/>
          </a:xfrm>
          <a:prstGeom prst="line">
            <a:avLst/>
          </a:prstGeom>
          <a:ln w="38100">
            <a:solidFill>
              <a:srgbClr val="A6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86200" y="3840480"/>
            <a:ext cx="2331720" cy="731520"/>
          </a:xfrm>
          <a:prstGeom prst="round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959352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1220"/>
                </a:solidFill>
                <a:latin typeface="Aptos"/>
              </a:rPr>
              <a:t>Prefill · 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4206240"/>
            <a:ext cx="640080" cy="0"/>
          </a:xfrm>
          <a:prstGeom prst="line">
            <a:avLst/>
          </a:prstGeom>
          <a:ln w="38100">
            <a:solidFill>
              <a:srgbClr val="A6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0" y="3840480"/>
            <a:ext cx="2331720" cy="731520"/>
          </a:xfrm>
          <a:prstGeom prst="round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959352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1220"/>
                </a:solidFill>
                <a:latin typeface="Aptos"/>
              </a:rPr>
              <a:t>Decode · 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89720" y="4206240"/>
            <a:ext cx="640080" cy="0"/>
          </a:xfrm>
          <a:prstGeom prst="line">
            <a:avLst/>
          </a:prstGeom>
          <a:ln w="38100">
            <a:solidFill>
              <a:srgbClr val="A6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29800" y="3840480"/>
            <a:ext cx="1417320" cy="731520"/>
          </a:xfrm>
          <a:prstGeom prst="roundRect">
            <a:avLst/>
          </a:prstGeom>
          <a:solidFill>
            <a:srgbClr val="4DDA99"/>
          </a:solidFill>
          <a:ln>
            <a:solidFill>
              <a:srgbClr val="4DD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959352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1220"/>
                </a:solidFill>
                <a:latin typeface="Aptos"/>
              </a:rP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A6B8CC"/>
                </a:solidFill>
                <a:latin typeface="Aptos"/>
              </a:rPr>
              <a:t>P and D should be measured at steady state; a hardware-only roofline is rarely predictive for distributed MoE serving.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Measure the bound instead of guessing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6446520" cy="452628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97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6D3E5"/>
                </a:solidFill>
                <a:latin typeface="Aptos"/>
              </a:rPr>
              <a:t>Live SGLang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 Mono"/>
              </a:rPr>
              <a:t>num_running_reqs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6432" y="1847088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6B8CC"/>
                </a:solidFill>
                <a:latin typeface="Aptos"/>
              </a:rPr>
              <a:t>Actual resident scheduler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14016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 Mono"/>
              </a:rPr>
              <a:t>num_waiting_reqs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2414016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6B8CC"/>
                </a:solidFill>
                <a:latin typeface="Aptos"/>
              </a:rPr>
              <a:t>Offered load beyond admission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80944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 Mono"/>
              </a:rPr>
              <a:t>token_usage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980944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6B8CC"/>
                </a:solidFill>
                <a:latin typeface="Aptos"/>
              </a:rPr>
              <a:t>KV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47872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 Mono"/>
              </a:rPr>
              <a:t>gen_throughput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547872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6B8CC"/>
                </a:solidFill>
                <a:latin typeface="Aptos"/>
              </a:rPr>
              <a:t>Decode—not total—throughput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 Mono"/>
              </a:rPr>
              <a:t>cache_hit_rate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4114800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6B8CC"/>
                </a:solidFill>
                <a:latin typeface="Aptos"/>
              </a:rPr>
              <a:t>Shared-prefix correction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8172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 Mono"/>
              </a:rPr>
              <a:t>queues.retracted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4681728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6B8CC"/>
                </a:solidFill>
                <a:latin typeface="Aptos"/>
              </a:rPr>
              <a:t>KV churn and likely ITL spikes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143000"/>
            <a:ext cx="4069080" cy="452628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444752"/>
            <a:ext cx="3520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DDA99"/>
                </a:solidFill>
                <a:latin typeface="Aptos"/>
              </a:rPr>
              <a:t>Query during the sweep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1965960"/>
            <a:ext cx="3474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C"/>
                </a:solidFill>
                <a:latin typeface="Aptos Mono"/>
              </a:rPr>
              <a:t>curl -s \
  'http://host:30000/
   v1/loads?
   include=core,queues'
  | jq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70916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B84D"/>
                </a:solidFill>
                <a:latin typeface="Aptos"/>
              </a:rPr>
              <a:t>Capture p50 and p99—not only averages.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Choose the SLO knee—not maximum concurrency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6492240" cy="452628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25880" y="4892040"/>
            <a:ext cx="5212080" cy="0"/>
          </a:xfrm>
          <a:prstGeom prst="line">
            <a:avLst/>
          </a:prstGeom>
          <a:ln w="12700">
            <a:solidFill>
              <a:srgbClr val="A6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25880" y="1783080"/>
            <a:ext cx="0" cy="3108960"/>
          </a:xfrm>
          <a:prstGeom prst="line">
            <a:avLst/>
          </a:prstGeom>
          <a:ln w="12700">
            <a:solidFill>
              <a:srgbClr val="A6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673351" y="4187952"/>
            <a:ext cx="128016" cy="128016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737360" y="3429000"/>
            <a:ext cx="822960" cy="822960"/>
          </a:xfrm>
          <a:prstGeom prst="line">
            <a:avLst/>
          </a:prstGeom>
          <a:ln w="508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96312" y="3364992"/>
            <a:ext cx="128016" cy="128016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2560320" y="2743200"/>
            <a:ext cx="914400" cy="685800"/>
          </a:xfrm>
          <a:prstGeom prst="line">
            <a:avLst/>
          </a:prstGeom>
          <a:ln w="508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10712" y="2679192"/>
            <a:ext cx="128016" cy="128016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3474720" y="2331720"/>
            <a:ext cx="960120" cy="411480"/>
          </a:xfrm>
          <a:prstGeom prst="line">
            <a:avLst/>
          </a:prstGeom>
          <a:ln w="508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370831" y="2267712"/>
            <a:ext cx="128016" cy="128016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4434840" y="2194560"/>
            <a:ext cx="960120" cy="137160"/>
          </a:xfrm>
          <a:prstGeom prst="line">
            <a:avLst/>
          </a:prstGeom>
          <a:ln w="508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330952" y="2130552"/>
            <a:ext cx="128016" cy="128016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5394960" y="2167128"/>
            <a:ext cx="777240" cy="27432"/>
          </a:xfrm>
          <a:prstGeom prst="line">
            <a:avLst/>
          </a:prstGeom>
          <a:ln w="50800">
            <a:solidFill>
              <a:srgbClr val="36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108192" y="2103120"/>
            <a:ext cx="128016" cy="128016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2167127"/>
            <a:ext cx="329184" cy="329184"/>
          </a:xfrm>
          <a:prstGeom prst="ellipse">
            <a:avLst/>
          </a:prstGeom>
          <a:noFill/>
          <a:ln w="381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487168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B84D"/>
                </a:solidFill>
                <a:latin typeface="Aptos"/>
              </a:rPr>
              <a:t>SLO knee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2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B8CC"/>
                </a:solidFill>
                <a:latin typeface="Aptos"/>
              </a:rPr>
              <a:t>Concurrency / ITL cost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1828800"/>
            <a:ext cx="45720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6D3E5"/>
                </a:solidFill>
                <a:latin typeface="Aptos"/>
              </a:rPr>
              <a:t>TPS
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143000"/>
            <a:ext cx="4023360" cy="4526280"/>
          </a:xfrm>
          <a:prstGeom prst="roundRect">
            <a:avLst/>
          </a:prstGeom>
          <a:solidFill>
            <a:srgbClr val="1E2E46"/>
          </a:solidFill>
          <a:ln>
            <a:solidFill>
              <a:srgbClr val="1E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1481328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4F8FC"/>
                </a:solidFill>
                <a:latin typeface="Aptos"/>
              </a:rPr>
              <a:t>Optimization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148840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4DDA99"/>
                </a:solidFill>
                <a:latin typeface="Aptos"/>
              </a:rPr>
              <a:t>Maximize output TPS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06324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6B8CC"/>
                </a:solidFill>
                <a:latin typeface="Aptos"/>
              </a:rPr>
              <a:t>subject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584448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B84D"/>
                </a:solidFill>
                <a:latin typeface="Aptos"/>
              </a:rPr>
              <a:t>p99 ITL ≤ SLO
p99 TTFT ≤ SLO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828032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6B8CC"/>
                </a:solidFill>
                <a:latin typeface="Aptos"/>
              </a:rPr>
              <a:t>Capacity is workload-specific.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45720"/>
          </a:xfrm>
          <a:prstGeom prst="rect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143000"/>
            <a:ext cx="10652760" cy="96012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298448"/>
            <a:ext cx="640080" cy="640080"/>
          </a:xfrm>
          <a:prstGeom prst="ellipse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12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52728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Separate the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52728"/>
            <a:ext cx="6355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Request slots, KV capacity, kernel saturation, and SLOs are different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10652760" cy="96012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532888"/>
            <a:ext cx="640080" cy="640080"/>
          </a:xfrm>
          <a:prstGeom prst="ellipse">
            <a:avLst/>
          </a:prstGeom>
          <a:solidFill>
            <a:srgbClr val="36D3E5"/>
          </a:solidFill>
          <a:ln>
            <a:solidFill>
              <a:srgbClr val="36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3288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122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87168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Use the right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87168"/>
            <a:ext cx="6355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At ISL 8K / OSL 1K, total TPS mostly measures prefill; use output TPS for decode.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10652760" cy="96012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767328"/>
            <a:ext cx="640080" cy="640080"/>
          </a:xfrm>
          <a:prstGeom prst="ellipse">
            <a:avLst/>
          </a:prstGeom>
          <a:solidFill>
            <a:srgbClr val="4DDA99"/>
          </a:solidFill>
          <a:ln>
            <a:solidFill>
              <a:srgbClr val="4DD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6732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122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21608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Explain the platform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21608"/>
            <a:ext cx="6355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MI355X has far more KV headroom and AITER scales to larger batches; B200 reaches its knee earlier.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10652760" cy="960120"/>
          </a:xfrm>
          <a:prstGeom prst="roundRect">
            <a:avLst/>
          </a:prstGeom>
          <a:solidFill>
            <a:srgbClr val="162235"/>
          </a:solidFill>
          <a:ln>
            <a:solidFill>
              <a:srgbClr val="16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5001768"/>
            <a:ext cx="640080" cy="640080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0176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1220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956048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Optimize for interactivity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956048"/>
            <a:ext cx="6355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6B8CC"/>
                </a:solidFill>
                <a:latin typeface="Aptos"/>
              </a:rPr>
              <a:t>Choose the highest output throughput that satisfies p99 TTFT and ITL.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6B8CC"/>
                </a:solidFill>
                <a:latin typeface="Aptos"/>
              </a:rPr>
              <a:t>Kimi K2.5 · ISL 8K / OSL 1K · TP=4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A6B8C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SGLang Throughput Ceiling and Interactivity</dc:title>
  <dc:subject>Kimi K2.5 capacity planning on B200 and MI355X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